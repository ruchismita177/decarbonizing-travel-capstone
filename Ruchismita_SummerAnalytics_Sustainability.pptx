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9" d="100"/>
          <a:sy n="59" d="100"/>
        </p:scale>
        <p:origin x="456"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1A"/>
                </a:solidFill>
                <a:latin typeface="Calibri"/>
              </a:defRPr>
            </a:pPr>
            <a:r>
              <a:rPr lang="en-US" sz="1300" b="0" i="0" u="none" strike="noStrike">
                <a:solidFill>
                  <a:srgbClr val="1A1A1A"/>
                </a:solidFill>
                <a:latin typeface="Calibri"/>
              </a:rPr>
              <a:t>Average Emissions per Trip by Region</a:t>
            </a:r>
          </a:p>
        </c:rich>
      </c:tx>
      <c:overlay val="0"/>
    </c:title>
    <c:autoTitleDeleted val="0"/>
    <c:plotArea>
      <c:layout/>
      <c:barChart>
        <c:barDir val="bar"/>
        <c:grouping val="clustered"/>
        <c:varyColors val="0"/>
        <c:ser>
          <c:idx val="0"/>
          <c:order val="0"/>
          <c:tx>
            <c:strRef>
              <c:f>Sheet1!$B$1</c:f>
              <c:strCache>
                <c:ptCount val="1"/>
                <c:pt idx="0">
                  <c:v>Avg kg CO2e per trip</c:v>
                </c:pt>
              </c:strCache>
            </c:strRef>
          </c:tx>
          <c:spPr>
            <a:solidFill>
              <a:srgbClr val="44546A"/>
            </a:solidFill>
            <a:effectLst/>
          </c:spPr>
          <c:invertIfNegative val="0"/>
          <c:dLbls>
            <c:numFmt formatCode="#,##0" sourceLinked="0"/>
            <c:spPr>
              <a:noFill/>
              <a:ln>
                <a:noFill/>
              </a:ln>
              <a:effectLst/>
            </c:spPr>
            <c:txPr>
              <a:bodyPr/>
              <a:lstStyle/>
              <a:p>
                <a:pPr>
                  <a:defRPr sz="10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Australia</c:v>
                </c:pt>
                <c:pt idx="1">
                  <c:v>China/Japan</c:v>
                </c:pt>
                <c:pt idx="2">
                  <c:v>Brazil</c:v>
                </c:pt>
                <c:pt idx="3">
                  <c:v>US/Mexico</c:v>
                </c:pt>
                <c:pt idx="4">
                  <c:v>Germany/Spain</c:v>
                </c:pt>
              </c:strCache>
            </c:strRef>
          </c:cat>
          <c:val>
            <c:numRef>
              <c:f>Sheet1!$B$2:$B$6</c:f>
              <c:numCache>
                <c:formatCode>General</c:formatCode>
                <c:ptCount val="5"/>
                <c:pt idx="0">
                  <c:v>4208</c:v>
                </c:pt>
                <c:pt idx="1">
                  <c:v>3070</c:v>
                </c:pt>
                <c:pt idx="2">
                  <c:v>2730</c:v>
                </c:pt>
                <c:pt idx="3">
                  <c:v>1450</c:v>
                </c:pt>
                <c:pt idx="4">
                  <c:v>602</c:v>
                </c:pt>
              </c:numCache>
            </c:numRef>
          </c:val>
          <c:extLst>
            <c:ext xmlns:c16="http://schemas.microsoft.com/office/drawing/2014/chart" uri="{C3380CC4-5D6E-409C-BE32-E72D297353CC}">
              <c16:uniqueId val="{00000000-CB95-481C-AE74-A7B7CCC5DB0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1A"/>
                </a:solidFill>
                <a:latin typeface="Calibri"/>
              </a:defRPr>
            </a:pPr>
            <a:r>
              <a:rPr lang="en-US" sz="1300" b="0" i="0" u="none" strike="noStrike">
                <a:solidFill>
                  <a:srgbClr val="1A1A1A"/>
                </a:solidFill>
                <a:latin typeface="Calibri"/>
              </a:rPr>
              <a:t>Share of Emissions by Business Unit</a:t>
            </a:r>
          </a:p>
        </c:rich>
      </c:tx>
      <c:overlay val="0"/>
    </c:title>
    <c:autoTitleDeleted val="0"/>
    <c:plotArea>
      <c:layout/>
      <c:barChart>
        <c:barDir val="bar"/>
        <c:grouping val="clustered"/>
        <c:varyColors val="0"/>
        <c:ser>
          <c:idx val="0"/>
          <c:order val="0"/>
          <c:tx>
            <c:strRef>
              <c:f>Sheet1!$B$1</c:f>
              <c:strCache>
                <c:ptCount val="1"/>
                <c:pt idx="0">
                  <c:v>Share of Total Emissions (%)</c:v>
                </c:pt>
              </c:strCache>
            </c:strRef>
          </c:tx>
          <c:spPr>
            <a:solidFill>
              <a:srgbClr val="44546A"/>
            </a:solidFill>
            <a:effectLst/>
          </c:spPr>
          <c:invertIfNegative val="0"/>
          <c:dLbls>
            <c:numFmt formatCode="#,##0" sourceLinked="0"/>
            <c:spPr>
              <a:noFill/>
              <a:ln>
                <a:noFill/>
              </a:ln>
              <a:effectLst/>
            </c:spPr>
            <c:txPr>
              <a:bodyPr/>
              <a:lstStyle/>
              <a:p>
                <a:pPr>
                  <a:defRPr sz="10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Sales</c:v>
                </c:pt>
                <c:pt idx="1">
                  <c:v>Marketing</c:v>
                </c:pt>
                <c:pt idx="2">
                  <c:v>Operations</c:v>
                </c:pt>
                <c:pt idx="3">
                  <c:v>Finance</c:v>
                </c:pt>
                <c:pt idx="4">
                  <c:v>Engineering</c:v>
                </c:pt>
                <c:pt idx="5">
                  <c:v>Customer Support</c:v>
                </c:pt>
              </c:strCache>
            </c:strRef>
          </c:cat>
          <c:val>
            <c:numRef>
              <c:f>Sheet1!$B$2:$B$7</c:f>
              <c:numCache>
                <c:formatCode>General</c:formatCode>
                <c:ptCount val="6"/>
                <c:pt idx="0">
                  <c:v>34</c:v>
                </c:pt>
                <c:pt idx="1">
                  <c:v>19</c:v>
                </c:pt>
                <c:pt idx="2">
                  <c:v>15</c:v>
                </c:pt>
                <c:pt idx="3">
                  <c:v>12</c:v>
                </c:pt>
                <c:pt idx="4">
                  <c:v>11</c:v>
                </c:pt>
                <c:pt idx="5">
                  <c:v>9</c:v>
                </c:pt>
              </c:numCache>
            </c:numRef>
          </c:val>
          <c:extLst>
            <c:ext xmlns:c16="http://schemas.microsoft.com/office/drawing/2014/chart" uri="{C3380CC4-5D6E-409C-BE32-E72D297353CC}">
              <c16:uniqueId val="{00000000-1260-4B80-BFF9-1783D2A74BE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432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377440"/>
            <a:ext cx="10698480" cy="914400"/>
          </a:xfrm>
          <a:prstGeom prst="rect">
            <a:avLst/>
          </a:prstGeom>
          <a:noFill/>
          <a:ln/>
        </p:spPr>
        <p:txBody>
          <a:bodyPr wrap="square" rtlCol="0" anchor="ctr"/>
          <a:lstStyle/>
          <a:p>
            <a:pPr marL="0" indent="0">
              <a:buNone/>
            </a:pPr>
            <a:r>
              <a:rPr lang="en-US" sz="4000" b="1" dirty="0">
                <a:solidFill>
                  <a:srgbClr val="1A1A1A"/>
                </a:solidFill>
                <a:latin typeface="Calibri" pitchFamily="34" charset="0"/>
                <a:ea typeface="Calibri" pitchFamily="34" charset="-122"/>
                <a:cs typeface="Calibri" pitchFamily="34" charset="-120"/>
              </a:rPr>
              <a:t>Decarbonizing Travel</a:t>
            </a:r>
            <a:endParaRPr lang="en-US" sz="4000" dirty="0"/>
          </a:p>
        </p:txBody>
      </p:sp>
      <p:sp>
        <p:nvSpPr>
          <p:cNvPr id="3" name="Text 1"/>
          <p:cNvSpPr/>
          <p:nvPr/>
        </p:nvSpPr>
        <p:spPr>
          <a:xfrm>
            <a:off x="731520" y="3200400"/>
            <a:ext cx="10698480" cy="457200"/>
          </a:xfrm>
          <a:prstGeom prst="rect">
            <a:avLst/>
          </a:prstGeom>
          <a:noFill/>
          <a:ln/>
        </p:spPr>
        <p:txBody>
          <a:bodyPr wrap="square" rtlCol="0" anchor="ctr"/>
          <a:lstStyle/>
          <a:p>
            <a:pPr marL="0" indent="0">
              <a:buNone/>
            </a:pPr>
            <a:r>
              <a:rPr lang="en-US" sz="2000" dirty="0">
                <a:solidFill>
                  <a:srgbClr val="555555"/>
                </a:solidFill>
                <a:latin typeface="Calibri" pitchFamily="34" charset="0"/>
                <a:ea typeface="Calibri" pitchFamily="34" charset="-122"/>
                <a:cs typeface="Calibri" pitchFamily="34" charset="-120"/>
              </a:rPr>
              <a:t>Sustainability Capstone Project</a:t>
            </a:r>
            <a:endParaRPr lang="en-US" sz="2000" dirty="0"/>
          </a:p>
        </p:txBody>
      </p:sp>
      <p:sp>
        <p:nvSpPr>
          <p:cNvPr id="4" name="Text 2"/>
          <p:cNvSpPr/>
          <p:nvPr/>
        </p:nvSpPr>
        <p:spPr>
          <a:xfrm>
            <a:off x="731520" y="4206240"/>
            <a:ext cx="10698480" cy="731520"/>
          </a:xfrm>
          <a:prstGeom prst="rect">
            <a:avLst/>
          </a:prstGeom>
          <a:noFill/>
          <a:ln/>
        </p:spPr>
        <p:txBody>
          <a:bodyPr wrap="square" rtlCol="0" anchor="ctr"/>
          <a:lstStyle/>
          <a:p>
            <a:pPr marL="0" indent="0">
              <a:lnSpc>
                <a:spcPct val="130000"/>
              </a:lnSpc>
              <a:buNone/>
            </a:pPr>
            <a:r>
              <a:rPr lang="en-US" sz="1400" dirty="0">
                <a:solidFill>
                  <a:srgbClr val="555555"/>
                </a:solidFill>
                <a:latin typeface="Calibri" pitchFamily="34" charset="0"/>
                <a:ea typeface="Calibri" pitchFamily="34" charset="-122"/>
                <a:cs typeface="Calibri" pitchFamily="34" charset="-120"/>
              </a:rPr>
              <a:t>Ruchismita Pradhan</a:t>
            </a:r>
            <a:endParaRPr lang="en-US" sz="1400" dirty="0"/>
          </a:p>
          <a:p>
            <a:pPr marL="0" indent="0">
              <a:lnSpc>
                <a:spcPct val="130000"/>
              </a:lnSpc>
              <a:buNone/>
            </a:pPr>
            <a:r>
              <a:rPr lang="en-US" sz="1400" dirty="0">
                <a:solidFill>
                  <a:srgbClr val="555555"/>
                </a:solidFill>
                <a:latin typeface="Calibri" pitchFamily="34" charset="0"/>
                <a:ea typeface="Calibri" pitchFamily="34" charset="-122"/>
                <a:cs typeface="Calibri" pitchFamily="34" charset="-120"/>
              </a:rPr>
              <a:t>Summer Analytics 2026, Consulting &amp; Analytics Club, IIT Guwahati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Executive Summary</a:t>
            </a:r>
            <a:endParaRPr lang="en-US" sz="2800" dirty="0"/>
          </a:p>
        </p:txBody>
      </p:sp>
      <p:sp>
        <p:nvSpPr>
          <p:cNvPr id="3" name="Text 1"/>
          <p:cNvSpPr/>
          <p:nvPr/>
        </p:nvSpPr>
        <p:spPr>
          <a:xfrm>
            <a:off x="548640" y="1097280"/>
            <a:ext cx="11064240" cy="914400"/>
          </a:xfrm>
          <a:prstGeom prst="rect">
            <a:avLst/>
          </a:prstGeom>
          <a:noFill/>
          <a:ln/>
        </p:spPr>
        <p:txBody>
          <a:bodyPr wrap="square" rtlCol="0" anchor="ctr"/>
          <a:lstStyle/>
          <a:p>
            <a:pPr marL="0" indent="0">
              <a:lnSpc>
                <a:spcPct val="130000"/>
              </a:lnSpc>
              <a:buNone/>
            </a:pPr>
            <a:r>
              <a:rPr lang="en-US" sz="1500" dirty="0">
                <a:solidFill>
                  <a:srgbClr val="1A1A1A"/>
                </a:solidFill>
                <a:latin typeface="Calibri" pitchFamily="34" charset="0"/>
                <a:ea typeface="Calibri" pitchFamily="34" charset="-122"/>
                <a:cs typeface="Calibri" pitchFamily="34" charset="-120"/>
              </a:rPr>
              <a:t>Celonis spent $140.5 million on business travel last year, producing 178 million kg of CO2e. A large part of this pollution is avoidable, and it mostly comes down to one habit: booking trips too close to the travel date.</a:t>
            </a:r>
            <a:endParaRPr lang="en-US" sz="1500" dirty="0"/>
          </a:p>
        </p:txBody>
      </p:sp>
      <p:sp>
        <p:nvSpPr>
          <p:cNvPr id="4" name="Text 2"/>
          <p:cNvSpPr/>
          <p:nvPr/>
        </p:nvSpPr>
        <p:spPr>
          <a:xfrm>
            <a:off x="548640" y="2103120"/>
            <a:ext cx="5394960" cy="365760"/>
          </a:xfrm>
          <a:prstGeom prst="rect">
            <a:avLst/>
          </a:prstGeom>
          <a:noFill/>
          <a:ln/>
        </p:spPr>
        <p:txBody>
          <a:bodyPr wrap="square"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Top 3 Insights</a:t>
            </a:r>
            <a:endParaRPr lang="en-US" sz="1600" dirty="0"/>
          </a:p>
        </p:txBody>
      </p:sp>
      <p:sp>
        <p:nvSpPr>
          <p:cNvPr id="5" name="Text 3"/>
          <p:cNvSpPr/>
          <p:nvPr/>
        </p:nvSpPr>
        <p:spPr>
          <a:xfrm>
            <a:off x="548640" y="2514600"/>
            <a:ext cx="5394960" cy="2926080"/>
          </a:xfrm>
          <a:prstGeom prst="rect">
            <a:avLst/>
          </a:prstGeom>
          <a:noFill/>
          <a:ln/>
        </p:spPr>
        <p:txBody>
          <a:bodyPr wrap="square" rtlCol="0" anchor="t"/>
          <a:lstStyle/>
          <a:p>
            <a:pPr marL="0" indent="0">
              <a:lnSpc>
                <a:spcPct val="125000"/>
              </a:lnSpc>
              <a:spcAft>
                <a:spcPts val="1000"/>
              </a:spcAft>
              <a:buNone/>
            </a:pPr>
            <a:r>
              <a:rPr lang="en-US" sz="1250" dirty="0">
                <a:solidFill>
                  <a:srgbClr val="1A1A1A"/>
                </a:solidFill>
                <a:latin typeface="Calibri" pitchFamily="34" charset="0"/>
                <a:ea typeface="Calibri" pitchFamily="34" charset="-122"/>
                <a:cs typeface="Calibri" pitchFamily="34" charset="-120"/>
              </a:rPr>
              <a:t>1. Trips booked less than 3 days before travel emit 83% more CO2e on average, because employees end up in Business Class flights instead of trains or economy fares.</a:t>
            </a:r>
            <a:endParaRPr lang="en-US" sz="1250" dirty="0"/>
          </a:p>
          <a:p>
            <a:pPr marL="0" indent="0">
              <a:lnSpc>
                <a:spcPct val="125000"/>
              </a:lnSpc>
              <a:spcAft>
                <a:spcPts val="1000"/>
              </a:spcAft>
              <a:buNone/>
            </a:pPr>
            <a:r>
              <a:rPr lang="en-US" sz="1250" dirty="0">
                <a:solidFill>
                  <a:srgbClr val="1A1A1A"/>
                </a:solidFill>
                <a:latin typeface="Calibri" pitchFamily="34" charset="0"/>
                <a:ea typeface="Calibri" pitchFamily="34" charset="-122"/>
                <a:cs typeface="Calibri" pitchFamily="34" charset="-120"/>
              </a:rPr>
              <a:t>2. Sales is the biggest emitter, responsible for 34% of all emissions.</a:t>
            </a:r>
            <a:endParaRPr lang="en-US" sz="1250" dirty="0"/>
          </a:p>
          <a:p>
            <a:pPr marL="0" indent="0">
              <a:lnSpc>
                <a:spcPct val="125000"/>
              </a:lnSpc>
              <a:spcAft>
                <a:spcPts val="1000"/>
              </a:spcAft>
              <a:buNone/>
            </a:pPr>
            <a:r>
              <a:rPr lang="en-US" sz="1250" dirty="0">
                <a:solidFill>
                  <a:srgbClr val="1A1A1A"/>
                </a:solidFill>
                <a:latin typeface="Calibri" pitchFamily="34" charset="0"/>
                <a:ea typeface="Calibri" pitchFamily="34" charset="-122"/>
                <a:cs typeface="Calibri" pitchFamily="34" charset="-120"/>
              </a:rPr>
              <a:t>3. Out-of-policy trips of any kind emit 44% more CO2e on average than compliant ones.</a:t>
            </a:r>
            <a:endParaRPr lang="en-US" sz="1250" dirty="0"/>
          </a:p>
        </p:txBody>
      </p:sp>
      <p:sp>
        <p:nvSpPr>
          <p:cNvPr id="6" name="Text 4"/>
          <p:cNvSpPr/>
          <p:nvPr/>
        </p:nvSpPr>
        <p:spPr>
          <a:xfrm>
            <a:off x="6217920" y="2103120"/>
            <a:ext cx="5394960" cy="365760"/>
          </a:xfrm>
          <a:prstGeom prst="rect">
            <a:avLst/>
          </a:prstGeom>
          <a:noFill/>
          <a:ln/>
        </p:spPr>
        <p:txBody>
          <a:bodyPr wrap="square"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Top 3 Recommendations</a:t>
            </a:r>
            <a:endParaRPr lang="en-US" sz="1600" dirty="0"/>
          </a:p>
        </p:txBody>
      </p:sp>
      <p:sp>
        <p:nvSpPr>
          <p:cNvPr id="7" name="Text 5"/>
          <p:cNvSpPr/>
          <p:nvPr/>
        </p:nvSpPr>
        <p:spPr>
          <a:xfrm>
            <a:off x="6217920" y="2514600"/>
            <a:ext cx="5394960" cy="2926080"/>
          </a:xfrm>
          <a:prstGeom prst="rect">
            <a:avLst/>
          </a:prstGeom>
          <a:noFill/>
          <a:ln/>
        </p:spPr>
        <p:txBody>
          <a:bodyPr wrap="square" rtlCol="0" anchor="t"/>
          <a:lstStyle/>
          <a:p>
            <a:pPr marL="0" indent="0">
              <a:lnSpc>
                <a:spcPct val="125000"/>
              </a:lnSpc>
              <a:spcAft>
                <a:spcPts val="1000"/>
              </a:spcAft>
              <a:buNone/>
            </a:pPr>
            <a:r>
              <a:rPr lang="en-US" sz="1250" dirty="0">
                <a:solidFill>
                  <a:srgbClr val="1A1A1A"/>
                </a:solidFill>
                <a:latin typeface="Calibri" pitchFamily="34" charset="0"/>
                <a:ea typeface="Calibri" pitchFamily="34" charset="-122"/>
                <a:cs typeface="Calibri" pitchFamily="34" charset="-120"/>
              </a:rPr>
              <a:t>1. Require travel requests at least 3 days before departure.</a:t>
            </a:r>
            <a:endParaRPr lang="en-US" sz="1250" dirty="0"/>
          </a:p>
          <a:p>
            <a:pPr marL="0" indent="0">
              <a:lnSpc>
                <a:spcPct val="125000"/>
              </a:lnSpc>
              <a:spcAft>
                <a:spcPts val="1000"/>
              </a:spcAft>
              <a:buNone/>
            </a:pPr>
            <a:r>
              <a:rPr lang="en-US" sz="1250" dirty="0">
                <a:solidFill>
                  <a:srgbClr val="1A1A1A"/>
                </a:solidFill>
                <a:latin typeface="Calibri" pitchFamily="34" charset="0"/>
                <a:ea typeface="Calibri" pitchFamily="34" charset="-122"/>
                <a:cs typeface="Calibri" pitchFamily="34" charset="-120"/>
              </a:rPr>
              <a:t>2. Set a lower carbon cap on Sales team travel, with pre-approval needed for Business Class on short routes.</a:t>
            </a:r>
            <a:endParaRPr lang="en-US" sz="1250" dirty="0"/>
          </a:p>
          <a:p>
            <a:pPr marL="0" indent="0">
              <a:lnSpc>
                <a:spcPct val="125000"/>
              </a:lnSpc>
              <a:spcAft>
                <a:spcPts val="1000"/>
              </a:spcAft>
              <a:buNone/>
            </a:pPr>
            <a:r>
              <a:rPr lang="en-US" sz="1250" dirty="0">
                <a:solidFill>
                  <a:srgbClr val="1A1A1A"/>
                </a:solidFill>
                <a:latin typeface="Calibri" pitchFamily="34" charset="0"/>
                <a:ea typeface="Calibri" pitchFamily="34" charset="-122"/>
                <a:cs typeface="Calibri" pitchFamily="34" charset="-120"/>
              </a:rPr>
              <a:t>3. Flag out-of-policy trips at the approval stage, not after booking.</a:t>
            </a:r>
            <a:endParaRPr lang="en-US" sz="1250" dirty="0"/>
          </a:p>
        </p:txBody>
      </p:sp>
      <p:sp>
        <p:nvSpPr>
          <p:cNvPr id="8" name="Text 6"/>
          <p:cNvSpPr/>
          <p:nvPr/>
        </p:nvSpPr>
        <p:spPr>
          <a:xfrm>
            <a:off x="548640" y="5486400"/>
            <a:ext cx="11064240" cy="914400"/>
          </a:xfrm>
          <a:prstGeom prst="rect">
            <a:avLst/>
          </a:prstGeom>
          <a:noFill/>
          <a:ln/>
        </p:spPr>
        <p:txBody>
          <a:bodyPr wrap="square" rtlCol="0" anchor="ctr"/>
          <a:lstStyle/>
          <a:p>
            <a:pPr marL="0" indent="0">
              <a:lnSpc>
                <a:spcPct val="130000"/>
              </a:lnSpc>
              <a:buNone/>
            </a:pPr>
            <a:r>
              <a:rPr lang="en-US" sz="1250" dirty="0">
                <a:solidFill>
                  <a:srgbClr val="555555"/>
                </a:solidFill>
                <a:latin typeface="Calibri" pitchFamily="34" charset="0"/>
                <a:ea typeface="Calibri" pitchFamily="34" charset="-122"/>
                <a:cs typeface="Calibri" pitchFamily="34" charset="-120"/>
              </a:rPr>
              <a:t>Why it matters: business travel is Celonis's largest Scope 3 emissions source, meaning it is pollution the company does not directly control but is still responsible for. Fixing the booking timeline alone could remove close to 50 million kg of CO2e over the next three years.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Results at a Glance</a:t>
            </a:r>
            <a:endParaRPr lang="en-US" sz="2800" dirty="0"/>
          </a:p>
        </p:txBody>
      </p:sp>
      <p:sp>
        <p:nvSpPr>
          <p:cNvPr id="3" name="Text 1"/>
          <p:cNvSpPr/>
          <p:nvPr/>
        </p:nvSpPr>
        <p:spPr>
          <a:xfrm>
            <a:off x="548640" y="1508760"/>
            <a:ext cx="822960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Total emissions</a:t>
            </a:r>
            <a:endParaRPr lang="en-US" sz="1500" dirty="0"/>
          </a:p>
        </p:txBody>
      </p:sp>
      <p:sp>
        <p:nvSpPr>
          <p:cNvPr id="4" name="Text 2"/>
          <p:cNvSpPr/>
          <p:nvPr/>
        </p:nvSpPr>
        <p:spPr>
          <a:xfrm>
            <a:off x="8869680" y="1508760"/>
            <a:ext cx="2743200" cy="457200"/>
          </a:xfrm>
          <a:prstGeom prst="rect">
            <a:avLst/>
          </a:prstGeom>
          <a:noFill/>
          <a:ln/>
        </p:spPr>
        <p:txBody>
          <a:bodyPr wrap="square" rtlCol="0" anchor="ctr"/>
          <a:lstStyle/>
          <a:p>
            <a:pPr marL="0" indent="0" algn="r">
              <a:buNone/>
            </a:pPr>
            <a:r>
              <a:rPr lang="en-US" sz="1500" b="1" dirty="0">
                <a:solidFill>
                  <a:srgbClr val="1A1A1A"/>
                </a:solidFill>
                <a:latin typeface="Calibri" pitchFamily="34" charset="0"/>
                <a:ea typeface="Calibri" pitchFamily="34" charset="-122"/>
                <a:cs typeface="Calibri" pitchFamily="34" charset="-120"/>
              </a:rPr>
              <a:t>178,090,088 kg CO2e</a:t>
            </a:r>
            <a:endParaRPr lang="en-US" sz="1500" dirty="0"/>
          </a:p>
        </p:txBody>
      </p:sp>
      <p:sp>
        <p:nvSpPr>
          <p:cNvPr id="5" name="Text 3"/>
          <p:cNvSpPr/>
          <p:nvPr/>
        </p:nvSpPr>
        <p:spPr>
          <a:xfrm>
            <a:off x="548640" y="2075688"/>
            <a:ext cx="822960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Total travel spend</a:t>
            </a:r>
            <a:endParaRPr lang="en-US" sz="1500" dirty="0"/>
          </a:p>
        </p:txBody>
      </p:sp>
      <p:sp>
        <p:nvSpPr>
          <p:cNvPr id="6" name="Text 4"/>
          <p:cNvSpPr/>
          <p:nvPr/>
        </p:nvSpPr>
        <p:spPr>
          <a:xfrm>
            <a:off x="8869680" y="2075688"/>
            <a:ext cx="2743200" cy="457200"/>
          </a:xfrm>
          <a:prstGeom prst="rect">
            <a:avLst/>
          </a:prstGeom>
          <a:noFill/>
          <a:ln/>
        </p:spPr>
        <p:txBody>
          <a:bodyPr wrap="square" rtlCol="0" anchor="ctr"/>
          <a:lstStyle/>
          <a:p>
            <a:pPr marL="0" indent="0" algn="r">
              <a:buNone/>
            </a:pPr>
            <a:r>
              <a:rPr lang="en-US" sz="1500" b="1" dirty="0">
                <a:solidFill>
                  <a:srgbClr val="1A1A1A"/>
                </a:solidFill>
                <a:latin typeface="Calibri" pitchFamily="34" charset="0"/>
                <a:ea typeface="Calibri" pitchFamily="34" charset="-122"/>
                <a:cs typeface="Calibri" pitchFamily="34" charset="-120"/>
              </a:rPr>
              <a:t>$140,479,200</a:t>
            </a:r>
            <a:endParaRPr lang="en-US" sz="1500" dirty="0"/>
          </a:p>
        </p:txBody>
      </p:sp>
      <p:sp>
        <p:nvSpPr>
          <p:cNvPr id="7" name="Text 5"/>
          <p:cNvSpPr/>
          <p:nvPr/>
        </p:nvSpPr>
        <p:spPr>
          <a:xfrm>
            <a:off x="548640" y="2642616"/>
            <a:ext cx="822960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Total trips analyzed</a:t>
            </a:r>
            <a:endParaRPr lang="en-US" sz="1500" dirty="0"/>
          </a:p>
        </p:txBody>
      </p:sp>
      <p:sp>
        <p:nvSpPr>
          <p:cNvPr id="8" name="Text 6"/>
          <p:cNvSpPr/>
          <p:nvPr/>
        </p:nvSpPr>
        <p:spPr>
          <a:xfrm>
            <a:off x="8869680" y="2642616"/>
            <a:ext cx="2743200" cy="457200"/>
          </a:xfrm>
          <a:prstGeom prst="rect">
            <a:avLst/>
          </a:prstGeom>
          <a:noFill/>
          <a:ln/>
        </p:spPr>
        <p:txBody>
          <a:bodyPr wrap="square" rtlCol="0" anchor="ctr"/>
          <a:lstStyle/>
          <a:p>
            <a:pPr marL="0" indent="0" algn="r">
              <a:buNone/>
            </a:pPr>
            <a:r>
              <a:rPr lang="en-US" sz="1500" b="1" dirty="0">
                <a:solidFill>
                  <a:srgbClr val="1A1A1A"/>
                </a:solidFill>
                <a:latin typeface="Calibri" pitchFamily="34" charset="0"/>
                <a:ea typeface="Calibri" pitchFamily="34" charset="-122"/>
                <a:cs typeface="Calibri" pitchFamily="34" charset="-120"/>
              </a:rPr>
              <a:t>65,289</a:t>
            </a:r>
            <a:endParaRPr lang="en-US" sz="1500" dirty="0"/>
          </a:p>
        </p:txBody>
      </p:sp>
      <p:sp>
        <p:nvSpPr>
          <p:cNvPr id="9" name="Text 7"/>
          <p:cNvSpPr/>
          <p:nvPr/>
        </p:nvSpPr>
        <p:spPr>
          <a:xfrm>
            <a:off x="548640" y="3209544"/>
            <a:ext cx="822960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Average emissions per trip</a:t>
            </a:r>
            <a:endParaRPr lang="en-US" sz="1500" dirty="0"/>
          </a:p>
        </p:txBody>
      </p:sp>
      <p:sp>
        <p:nvSpPr>
          <p:cNvPr id="10" name="Text 8"/>
          <p:cNvSpPr/>
          <p:nvPr/>
        </p:nvSpPr>
        <p:spPr>
          <a:xfrm>
            <a:off x="8869680" y="3209544"/>
            <a:ext cx="2743200" cy="457200"/>
          </a:xfrm>
          <a:prstGeom prst="rect">
            <a:avLst/>
          </a:prstGeom>
          <a:noFill/>
          <a:ln/>
        </p:spPr>
        <p:txBody>
          <a:bodyPr wrap="square" rtlCol="0" anchor="ctr"/>
          <a:lstStyle/>
          <a:p>
            <a:pPr marL="0" indent="0" algn="r">
              <a:buNone/>
            </a:pPr>
            <a:r>
              <a:rPr lang="en-US" sz="1500" b="1" dirty="0">
                <a:solidFill>
                  <a:srgbClr val="1A1A1A"/>
                </a:solidFill>
                <a:latin typeface="Calibri" pitchFamily="34" charset="0"/>
                <a:ea typeface="Calibri" pitchFamily="34" charset="-122"/>
                <a:cs typeface="Calibri" pitchFamily="34" charset="-120"/>
              </a:rPr>
              <a:t>2,728 kg CO2e</a:t>
            </a:r>
            <a:endParaRPr lang="en-US" sz="1500" dirty="0"/>
          </a:p>
        </p:txBody>
      </p:sp>
      <p:sp>
        <p:nvSpPr>
          <p:cNvPr id="11" name="Text 9"/>
          <p:cNvSpPr/>
          <p:nvPr/>
        </p:nvSpPr>
        <p:spPr>
          <a:xfrm>
            <a:off x="548640" y="3776472"/>
            <a:ext cx="822960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Share of emissions from Sales, the biggest emitting team</a:t>
            </a:r>
            <a:endParaRPr lang="en-US" sz="1500" dirty="0"/>
          </a:p>
        </p:txBody>
      </p:sp>
      <p:sp>
        <p:nvSpPr>
          <p:cNvPr id="12" name="Text 10"/>
          <p:cNvSpPr/>
          <p:nvPr/>
        </p:nvSpPr>
        <p:spPr>
          <a:xfrm>
            <a:off x="8869680" y="3776472"/>
            <a:ext cx="2743200" cy="457200"/>
          </a:xfrm>
          <a:prstGeom prst="rect">
            <a:avLst/>
          </a:prstGeom>
          <a:noFill/>
          <a:ln/>
        </p:spPr>
        <p:txBody>
          <a:bodyPr wrap="square" rtlCol="0" anchor="ctr"/>
          <a:lstStyle/>
          <a:p>
            <a:pPr marL="0" indent="0" algn="r">
              <a:buNone/>
            </a:pPr>
            <a:r>
              <a:rPr lang="en-US" sz="1500" b="1" dirty="0">
                <a:solidFill>
                  <a:srgbClr val="1A1A1A"/>
                </a:solidFill>
                <a:latin typeface="Calibri" pitchFamily="34" charset="0"/>
                <a:ea typeface="Calibri" pitchFamily="34" charset="-122"/>
                <a:cs typeface="Calibri" pitchFamily="34" charset="-120"/>
              </a:rPr>
              <a:t>34%</a:t>
            </a:r>
            <a:endParaRPr lang="en-US" sz="1500" dirty="0"/>
          </a:p>
        </p:txBody>
      </p:sp>
      <p:sp>
        <p:nvSpPr>
          <p:cNvPr id="13" name="Text 11"/>
          <p:cNvSpPr/>
          <p:nvPr/>
        </p:nvSpPr>
        <p:spPr>
          <a:xfrm>
            <a:off x="548640" y="4343400"/>
            <a:ext cx="822960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Share of emissions from Customer Visits and Conferences combined</a:t>
            </a:r>
            <a:endParaRPr lang="en-US" sz="1500" dirty="0"/>
          </a:p>
        </p:txBody>
      </p:sp>
      <p:sp>
        <p:nvSpPr>
          <p:cNvPr id="14" name="Text 12"/>
          <p:cNvSpPr/>
          <p:nvPr/>
        </p:nvSpPr>
        <p:spPr>
          <a:xfrm>
            <a:off x="8869680" y="4343400"/>
            <a:ext cx="2743200" cy="457200"/>
          </a:xfrm>
          <a:prstGeom prst="rect">
            <a:avLst/>
          </a:prstGeom>
          <a:noFill/>
          <a:ln/>
        </p:spPr>
        <p:txBody>
          <a:bodyPr wrap="square" rtlCol="0" anchor="ctr"/>
          <a:lstStyle/>
          <a:p>
            <a:pPr marL="0" indent="0" algn="r">
              <a:buNone/>
            </a:pPr>
            <a:r>
              <a:rPr lang="en-US" sz="1500" b="1" dirty="0">
                <a:solidFill>
                  <a:srgbClr val="1A1A1A"/>
                </a:solidFill>
                <a:latin typeface="Calibri" pitchFamily="34" charset="0"/>
                <a:ea typeface="Calibri" pitchFamily="34" charset="-122"/>
                <a:cs typeface="Calibri" pitchFamily="34" charset="-120"/>
              </a:rPr>
              <a:t>79%</a:t>
            </a:r>
            <a:endParaRPr lang="en-US" sz="1500" dirty="0"/>
          </a:p>
        </p:txBody>
      </p:sp>
      <p:sp>
        <p:nvSpPr>
          <p:cNvPr id="15" name="Text 13"/>
          <p:cNvSpPr/>
          <p:nvPr/>
        </p:nvSpPr>
        <p:spPr>
          <a:xfrm>
            <a:off x="548640" y="4910328"/>
            <a:ext cx="822960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Higher emissions for trips booked less than 3 days before travel</a:t>
            </a:r>
            <a:endParaRPr lang="en-US" sz="1500" dirty="0"/>
          </a:p>
        </p:txBody>
      </p:sp>
      <p:sp>
        <p:nvSpPr>
          <p:cNvPr id="16" name="Text 14"/>
          <p:cNvSpPr/>
          <p:nvPr/>
        </p:nvSpPr>
        <p:spPr>
          <a:xfrm>
            <a:off x="8869680" y="4910328"/>
            <a:ext cx="2743200" cy="457200"/>
          </a:xfrm>
          <a:prstGeom prst="rect">
            <a:avLst/>
          </a:prstGeom>
          <a:noFill/>
          <a:ln/>
        </p:spPr>
        <p:txBody>
          <a:bodyPr wrap="square" rtlCol="0" anchor="ctr"/>
          <a:lstStyle/>
          <a:p>
            <a:pPr marL="0" indent="0" algn="r">
              <a:buNone/>
            </a:pPr>
            <a:r>
              <a:rPr lang="en-US" sz="1500" b="1" dirty="0">
                <a:solidFill>
                  <a:srgbClr val="1A1A1A"/>
                </a:solidFill>
                <a:latin typeface="Calibri" pitchFamily="34" charset="0"/>
                <a:ea typeface="Calibri" pitchFamily="34" charset="-122"/>
                <a:cs typeface="Calibri" pitchFamily="34" charset="-120"/>
              </a:rPr>
              <a:t>+83%</a:t>
            </a:r>
            <a:endParaRPr lang="en-US" sz="1500" dirty="0"/>
          </a:p>
        </p:txBody>
      </p:sp>
      <p:sp>
        <p:nvSpPr>
          <p:cNvPr id="17" name="Text 15"/>
          <p:cNvSpPr/>
          <p:nvPr/>
        </p:nvSpPr>
        <p:spPr>
          <a:xfrm>
            <a:off x="548640" y="5477256"/>
            <a:ext cx="822960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Higher emissions for out-of-policy trips overall</a:t>
            </a:r>
            <a:endParaRPr lang="en-US" sz="1500" dirty="0"/>
          </a:p>
        </p:txBody>
      </p:sp>
      <p:sp>
        <p:nvSpPr>
          <p:cNvPr id="18" name="Text 16"/>
          <p:cNvSpPr/>
          <p:nvPr/>
        </p:nvSpPr>
        <p:spPr>
          <a:xfrm>
            <a:off x="8869680" y="5477256"/>
            <a:ext cx="2743200" cy="457200"/>
          </a:xfrm>
          <a:prstGeom prst="rect">
            <a:avLst/>
          </a:prstGeom>
          <a:noFill/>
          <a:ln/>
        </p:spPr>
        <p:txBody>
          <a:bodyPr wrap="square" rtlCol="0" anchor="ctr"/>
          <a:lstStyle/>
          <a:p>
            <a:pPr marL="0" indent="0" algn="r">
              <a:buNone/>
            </a:pPr>
            <a:r>
              <a:rPr lang="en-US" sz="1500" b="1" dirty="0">
                <a:solidFill>
                  <a:srgbClr val="1A1A1A"/>
                </a:solidFill>
                <a:latin typeface="Calibri" pitchFamily="34" charset="0"/>
                <a:ea typeface="Calibri" pitchFamily="34" charset="-122"/>
                <a:cs typeface="Calibri" pitchFamily="34" charset="-120"/>
              </a:rPr>
              <a:t>+44%</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Emissions Profile and Benchmarking</a:t>
            </a:r>
            <a:endParaRPr lang="en-US" sz="28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Business Question 1: What does the current carbon footprint look like? Business Question 2: How do processes compare across regions?</a:t>
            </a:r>
            <a:endParaRPr lang="en-US" sz="1300" dirty="0"/>
          </a:p>
        </p:txBody>
      </p:sp>
      <p:sp>
        <p:nvSpPr>
          <p:cNvPr id="4" name="Text 2"/>
          <p:cNvSpPr/>
          <p:nvPr/>
        </p:nvSpPr>
        <p:spPr>
          <a:xfrm>
            <a:off x="548640" y="1645920"/>
            <a:ext cx="5577840" cy="4206240"/>
          </a:xfrm>
          <a:prstGeom prst="rect">
            <a:avLst/>
          </a:prstGeom>
          <a:noFill/>
          <a:ln/>
        </p:spPr>
        <p:txBody>
          <a:bodyPr wrap="square" rtlCol="0" anchor="t"/>
          <a:lstStyle/>
          <a:p>
            <a:pPr marL="0" indent="0">
              <a:lnSpc>
                <a:spcPct val="125000"/>
              </a:lnSpc>
              <a:spcAft>
                <a:spcPts val="1000"/>
              </a:spcAft>
              <a:buNone/>
            </a:pPr>
            <a:r>
              <a:rPr lang="en-US" sz="1350" dirty="0">
                <a:solidFill>
                  <a:srgbClr val="1A1A1A"/>
                </a:solidFill>
                <a:latin typeface="Calibri" pitchFamily="34" charset="0"/>
                <a:ea typeface="Calibri" pitchFamily="34" charset="-122"/>
                <a:cs typeface="Calibri" pitchFamily="34" charset="-120"/>
              </a:rPr>
              <a:t>1. Across 65,289 trips, Celonis produced 178 million kg of CO2e, an average of 2,728 kg per trip.</a:t>
            </a:r>
            <a:endParaRPr lang="en-US" sz="1350" dirty="0"/>
          </a:p>
          <a:p>
            <a:pPr marL="0" indent="0">
              <a:lnSpc>
                <a:spcPct val="125000"/>
              </a:lnSpc>
              <a:spcAft>
                <a:spcPts val="1000"/>
              </a:spcAft>
              <a:buNone/>
            </a:pPr>
            <a:r>
              <a:rPr lang="en-US" sz="1350" dirty="0">
                <a:solidFill>
                  <a:srgbClr val="1A1A1A"/>
                </a:solidFill>
                <a:latin typeface="Calibri" pitchFamily="34" charset="0"/>
                <a:ea typeface="Calibri" pitchFamily="34" charset="-122"/>
                <a:cs typeface="Calibri" pitchFamily="34" charset="-120"/>
              </a:rPr>
              <a:t>2. Flights make up most of this footprint. Hotels are a very small share by comparison.</a:t>
            </a:r>
            <a:endParaRPr lang="en-US" sz="1350" dirty="0"/>
          </a:p>
          <a:p>
            <a:pPr marL="0" indent="0">
              <a:lnSpc>
                <a:spcPct val="125000"/>
              </a:lnSpc>
              <a:spcAft>
                <a:spcPts val="1000"/>
              </a:spcAft>
              <a:buNone/>
            </a:pPr>
            <a:r>
              <a:rPr lang="en-US" sz="1350" dirty="0">
                <a:solidFill>
                  <a:srgbClr val="1A1A1A"/>
                </a:solidFill>
                <a:latin typeface="Calibri" pitchFamily="34" charset="0"/>
                <a:ea typeface="Calibri" pitchFamily="34" charset="-122"/>
                <a:cs typeface="Calibri" pitchFamily="34" charset="-120"/>
              </a:rPr>
              <a:t>3. Note on regions: the data is recorded by home office country, not by continent, so we grouped countries ourselves for comparison rather than using an official region boundary.</a:t>
            </a:r>
            <a:endParaRPr lang="en-US" sz="1350" dirty="0"/>
          </a:p>
          <a:p>
            <a:pPr marL="0" indent="0">
              <a:lnSpc>
                <a:spcPct val="125000"/>
              </a:lnSpc>
              <a:spcAft>
                <a:spcPts val="1000"/>
              </a:spcAft>
              <a:buNone/>
            </a:pPr>
            <a:r>
              <a:rPr lang="en-US" sz="1350" dirty="0">
                <a:solidFill>
                  <a:srgbClr val="1A1A1A"/>
                </a:solidFill>
                <a:latin typeface="Calibri" pitchFamily="34" charset="0"/>
                <a:ea typeface="Calibri" pitchFamily="34" charset="-122"/>
                <a:cs typeface="Calibri" pitchFamily="34" charset="-120"/>
              </a:rPr>
              <a:t>4. Germany and Spain are the most carbon efficient offices, a useful internal benchmark for the rest of the company.</a:t>
            </a:r>
            <a:endParaRPr lang="en-US" sz="1350" dirty="0"/>
          </a:p>
        </p:txBody>
      </p:sp>
      <p:graphicFrame>
        <p:nvGraphicFramePr>
          <p:cNvPr id="5" name="Chart 0"/>
          <p:cNvGraphicFramePr/>
          <p:nvPr/>
        </p:nvGraphicFramePr>
        <p:xfrm>
          <a:off x="6309360" y="1691640"/>
          <a:ext cx="5303520" cy="42062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Hotspot Analysis</a:t>
            </a:r>
            <a:endParaRPr lang="en-US" sz="28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Business Question 3: Which regions, business units, or trip purposes carry disproportionately high emissions?</a:t>
            </a:r>
            <a:endParaRPr lang="en-US" sz="1300" dirty="0"/>
          </a:p>
        </p:txBody>
      </p:sp>
      <p:sp>
        <p:nvSpPr>
          <p:cNvPr id="4" name="Text 2"/>
          <p:cNvSpPr/>
          <p:nvPr/>
        </p:nvSpPr>
        <p:spPr>
          <a:xfrm>
            <a:off x="548640" y="1645920"/>
            <a:ext cx="5577840" cy="4206240"/>
          </a:xfrm>
          <a:prstGeom prst="rect">
            <a:avLst/>
          </a:prstGeom>
          <a:noFill/>
          <a:ln/>
        </p:spPr>
        <p:txBody>
          <a:bodyPr wrap="square" rtlCol="0" anchor="t"/>
          <a:lstStyle/>
          <a:p>
            <a:pPr marL="0" indent="0">
              <a:lnSpc>
                <a:spcPct val="125000"/>
              </a:lnSpc>
              <a:spcAft>
                <a:spcPts val="1000"/>
              </a:spcAft>
              <a:buNone/>
            </a:pPr>
            <a:r>
              <a:rPr lang="en-US" sz="1350" dirty="0">
                <a:solidFill>
                  <a:srgbClr val="1A1A1A"/>
                </a:solidFill>
                <a:latin typeface="Calibri" pitchFamily="34" charset="0"/>
                <a:ea typeface="Calibri" pitchFamily="34" charset="-122"/>
                <a:cs typeface="Calibri" pitchFamily="34" charset="-120"/>
              </a:rPr>
              <a:t>1. Sales is responsible for 34% of all travel emissions, nearly double the next highest team, Marketing, at 19%.</a:t>
            </a:r>
            <a:endParaRPr lang="en-US" sz="1350" dirty="0"/>
          </a:p>
          <a:p>
            <a:pPr marL="0" indent="0">
              <a:lnSpc>
                <a:spcPct val="125000"/>
              </a:lnSpc>
              <a:spcAft>
                <a:spcPts val="1000"/>
              </a:spcAft>
              <a:buNone/>
            </a:pPr>
            <a:r>
              <a:rPr lang="en-US" sz="1350" dirty="0">
                <a:solidFill>
                  <a:srgbClr val="1A1A1A"/>
                </a:solidFill>
                <a:latin typeface="Calibri" pitchFamily="34" charset="0"/>
                <a:ea typeface="Calibri" pitchFamily="34" charset="-122"/>
                <a:cs typeface="Calibri" pitchFamily="34" charset="-120"/>
              </a:rPr>
              <a:t>2. Most of Sales emissions come from Customer Visits, making this team the highest leverage place to introduce lower carbon travel options.</a:t>
            </a:r>
            <a:endParaRPr lang="en-US" sz="1350" dirty="0"/>
          </a:p>
          <a:p>
            <a:pPr marL="0" indent="0">
              <a:lnSpc>
                <a:spcPct val="125000"/>
              </a:lnSpc>
              <a:spcAft>
                <a:spcPts val="1000"/>
              </a:spcAft>
              <a:buNone/>
            </a:pPr>
            <a:r>
              <a:rPr lang="en-US" sz="1350" dirty="0">
                <a:solidFill>
                  <a:srgbClr val="1A1A1A"/>
                </a:solidFill>
                <a:latin typeface="Calibri" pitchFamily="34" charset="0"/>
                <a:ea typeface="Calibri" pitchFamily="34" charset="-122"/>
                <a:cs typeface="Calibri" pitchFamily="34" charset="-120"/>
              </a:rPr>
              <a:t>3. Customer Visits (43%) and Conferences (35%) together account for 79% of all emissions, a policy change focused on just these two could move the whole company's footprint.</a:t>
            </a:r>
            <a:endParaRPr lang="en-US" sz="1350" dirty="0"/>
          </a:p>
        </p:txBody>
      </p:sp>
      <p:graphicFrame>
        <p:nvGraphicFramePr>
          <p:cNvPr id="5" name="Chart 0"/>
          <p:cNvGraphicFramePr/>
          <p:nvPr/>
        </p:nvGraphicFramePr>
        <p:xfrm>
          <a:off x="6309360" y="1691640"/>
          <a:ext cx="5303520" cy="42062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Inefficiencies Identified</a:t>
            </a:r>
            <a:endParaRPr lang="en-US" sz="28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Business Question 4: What bottlenecks or process issues are driving emissions up?</a:t>
            </a:r>
            <a:endParaRPr lang="en-US" sz="1300" dirty="0"/>
          </a:p>
        </p:txBody>
      </p:sp>
      <p:sp>
        <p:nvSpPr>
          <p:cNvPr id="4" name="Text 2"/>
          <p:cNvSpPr/>
          <p:nvPr/>
        </p:nvSpPr>
        <p:spPr>
          <a:xfrm>
            <a:off x="548640" y="1691640"/>
            <a:ext cx="11064240" cy="4206240"/>
          </a:xfrm>
          <a:prstGeom prst="rect">
            <a:avLst/>
          </a:prstGeom>
          <a:noFill/>
          <a:ln/>
        </p:spPr>
        <p:txBody>
          <a:bodyPr wrap="square" rtlCol="0" anchor="t"/>
          <a:lstStyle/>
          <a:p>
            <a:pPr marL="0" indent="0">
              <a:lnSpc>
                <a:spcPct val="125000"/>
              </a:lnSpc>
              <a:spcAft>
                <a:spcPts val="1000"/>
              </a:spcAft>
              <a:buNone/>
            </a:pPr>
            <a:r>
              <a:rPr lang="en-US" sz="1500" dirty="0">
                <a:solidFill>
                  <a:srgbClr val="1A1A1A"/>
                </a:solidFill>
                <a:latin typeface="Calibri" pitchFamily="34" charset="0"/>
                <a:ea typeface="Calibri" pitchFamily="34" charset="-122"/>
                <a:cs typeface="Calibri" pitchFamily="34" charset="-120"/>
              </a:rPr>
              <a:t>1. We measured the actual time gap between when a trip was requested and when the traveler departed, using the timestamped process data in Celonis.</a:t>
            </a:r>
            <a:endParaRPr lang="en-US" sz="1500" dirty="0"/>
          </a:p>
          <a:p>
            <a:pPr marL="0" indent="0">
              <a:lnSpc>
                <a:spcPct val="125000"/>
              </a:lnSpc>
              <a:spcAft>
                <a:spcPts val="1000"/>
              </a:spcAft>
              <a:buNone/>
            </a:pPr>
            <a:r>
              <a:rPr lang="en-US" sz="1500" dirty="0">
                <a:solidFill>
                  <a:srgbClr val="1A1A1A"/>
                </a:solidFill>
                <a:latin typeface="Calibri" pitchFamily="34" charset="0"/>
                <a:ea typeface="Calibri" pitchFamily="34" charset="-122"/>
                <a:cs typeface="Calibri" pitchFamily="34" charset="-120"/>
              </a:rPr>
              <a:t>2. 12.5% of all trips are booked less than 3 days before travel.</a:t>
            </a:r>
            <a:endParaRPr lang="en-US" sz="1500" dirty="0"/>
          </a:p>
          <a:p>
            <a:pPr marL="0" indent="0">
              <a:lnSpc>
                <a:spcPct val="125000"/>
              </a:lnSpc>
              <a:spcAft>
                <a:spcPts val="1000"/>
              </a:spcAft>
              <a:buNone/>
            </a:pPr>
            <a:r>
              <a:rPr lang="en-US" sz="1500" dirty="0">
                <a:solidFill>
                  <a:srgbClr val="1A1A1A"/>
                </a:solidFill>
                <a:latin typeface="Calibri" pitchFamily="34" charset="0"/>
                <a:ea typeface="Calibri" pitchFamily="34" charset="-122"/>
                <a:cs typeface="Calibri" pitchFamily="34" charset="-120"/>
              </a:rPr>
              <a:t>3. 100% of these last-minute trips are flagged as out of policy.</a:t>
            </a:r>
            <a:endParaRPr lang="en-US" sz="1500" dirty="0"/>
          </a:p>
          <a:p>
            <a:pPr marL="0" indent="0">
              <a:lnSpc>
                <a:spcPct val="125000"/>
              </a:lnSpc>
              <a:spcAft>
                <a:spcPts val="1000"/>
              </a:spcAft>
              <a:buNone/>
            </a:pPr>
            <a:r>
              <a:rPr lang="en-US" sz="1500" dirty="0">
                <a:solidFill>
                  <a:srgbClr val="1A1A1A"/>
                </a:solidFill>
                <a:latin typeface="Calibri" pitchFamily="34" charset="0"/>
                <a:ea typeface="Calibri" pitchFamily="34" charset="-122"/>
                <a:cs typeface="Calibri" pitchFamily="34" charset="-120"/>
              </a:rPr>
              <a:t>4. 84% of last-minute trips are Business Class flights, compared to only 14% for trips planned in advance.</a:t>
            </a:r>
            <a:endParaRPr lang="en-US" sz="1500" dirty="0"/>
          </a:p>
          <a:p>
            <a:pPr marL="0" indent="0">
              <a:lnSpc>
                <a:spcPct val="125000"/>
              </a:lnSpc>
              <a:spcAft>
                <a:spcPts val="1000"/>
              </a:spcAft>
              <a:buNone/>
            </a:pPr>
            <a:r>
              <a:rPr lang="en-US" sz="1500" dirty="0">
                <a:solidFill>
                  <a:srgbClr val="1A1A1A"/>
                </a:solidFill>
                <a:latin typeface="Calibri" pitchFamily="34" charset="0"/>
                <a:ea typeface="Calibri" pitchFamily="34" charset="-122"/>
                <a:cs typeface="Calibri" pitchFamily="34" charset="-120"/>
              </a:rPr>
              <a:t>5. Last-minute trips emit 83% more CO2e on average than planned trips (4,514 kg versus 2,472 kg).</a:t>
            </a:r>
            <a:endParaRPr lang="en-US" sz="1500" dirty="0"/>
          </a:p>
          <a:p>
            <a:pPr marL="0" indent="0">
              <a:lnSpc>
                <a:spcPct val="125000"/>
              </a:lnSpc>
              <a:spcAft>
                <a:spcPts val="1000"/>
              </a:spcAft>
              <a:buNone/>
            </a:pPr>
            <a:r>
              <a:rPr lang="en-US" sz="1500" dirty="0">
                <a:solidFill>
                  <a:srgbClr val="1A1A1A"/>
                </a:solidFill>
                <a:latin typeface="Calibri" pitchFamily="34" charset="0"/>
                <a:ea typeface="Calibri" pitchFamily="34" charset="-122"/>
                <a:cs typeface="Calibri" pitchFamily="34" charset="-120"/>
              </a:rPr>
              <a:t>6. Why this happens: when a trip is requested with only a day or two of notice, trains and economy fares are usually already unavailable, so travelers get pushed into whatever flight is left, almost always Business Class.</a:t>
            </a:r>
            <a:endParaRPr lang="en-US" sz="1500" dirty="0"/>
          </a:p>
          <a:p>
            <a:pPr marL="0" indent="0">
              <a:lnSpc>
                <a:spcPct val="125000"/>
              </a:lnSpc>
              <a:spcAft>
                <a:spcPts val="1000"/>
              </a:spcAft>
              <a:buNone/>
            </a:pPr>
            <a:r>
              <a:rPr lang="en-US" sz="1500" dirty="0">
                <a:solidFill>
                  <a:srgbClr val="1A1A1A"/>
                </a:solidFill>
                <a:latin typeface="Calibri" pitchFamily="34" charset="0"/>
                <a:ea typeface="Calibri" pitchFamily="34" charset="-122"/>
                <a:cs typeface="Calibri" pitchFamily="34" charset="-120"/>
              </a:rPr>
              <a:t>7. Even outside last-minute bookings, out-of-policy trips overall emit 44% more CO2e on average than compliant trips (3,625 kg versus 2,525 kg).</a:t>
            </a:r>
            <a:endParaRPr lang="en-US" sz="1500" dirty="0"/>
          </a:p>
        </p:txBody>
      </p:sp>
      <p:sp>
        <p:nvSpPr>
          <p:cNvPr id="5" name="Text 3"/>
          <p:cNvSpPr/>
          <p:nvPr/>
        </p:nvSpPr>
        <p:spPr>
          <a:xfrm>
            <a:off x="548640" y="5989320"/>
            <a:ext cx="11064240" cy="640080"/>
          </a:xfrm>
          <a:prstGeom prst="rect">
            <a:avLst/>
          </a:prstGeom>
          <a:noFill/>
          <a:ln/>
        </p:spPr>
        <p:txBody>
          <a:bodyPr wrap="square" rtlCol="0" anchor="ctr"/>
          <a:lstStyle/>
          <a:p>
            <a:pPr marL="0" indent="0">
              <a:lnSpc>
                <a:spcPct val="125000"/>
              </a:lnSpc>
              <a:buNone/>
            </a:pPr>
            <a:r>
              <a:rPr lang="en-US" sz="1350" b="1" dirty="0">
                <a:solidFill>
                  <a:srgbClr val="1A1A1A"/>
                </a:solidFill>
                <a:latin typeface="Calibri" pitchFamily="34" charset="0"/>
                <a:ea typeface="Calibri" pitchFamily="34" charset="-122"/>
                <a:cs typeface="Calibri" pitchFamily="34" charset="-120"/>
              </a:rPr>
              <a:t>Bottom line: the booking process itself, not employee behavior, is quietly manufacturing high emission trips. Fixing the timeline is the single highest impact change available.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Recommendations and Roadmap</a:t>
            </a:r>
            <a:endParaRPr lang="en-US" sz="2800" dirty="0"/>
          </a:p>
        </p:txBody>
      </p:sp>
      <p:sp>
        <p:nvSpPr>
          <p:cNvPr id="3" name="Text 1"/>
          <p:cNvSpPr/>
          <p:nvPr/>
        </p:nvSpPr>
        <p:spPr>
          <a:xfrm>
            <a:off x="548640" y="960120"/>
            <a:ext cx="11064240" cy="45720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Business Question 5: What specific policy updates should Celonis make, and what value would they generate over 3 years?</a:t>
            </a:r>
            <a:endParaRPr lang="en-US" sz="1300" dirty="0"/>
          </a:p>
        </p:txBody>
      </p:sp>
      <p:sp>
        <p:nvSpPr>
          <p:cNvPr id="4" name="Text 2"/>
          <p:cNvSpPr/>
          <p:nvPr/>
        </p:nvSpPr>
        <p:spPr>
          <a:xfrm>
            <a:off x="548640" y="1600200"/>
            <a:ext cx="11064240" cy="365760"/>
          </a:xfrm>
          <a:prstGeom prst="rect">
            <a:avLst/>
          </a:prstGeom>
          <a:noFill/>
          <a:ln/>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1. Set a 3 day minimum booking window</a:t>
            </a:r>
            <a:endParaRPr lang="en-US" sz="1500" dirty="0"/>
          </a:p>
        </p:txBody>
      </p:sp>
      <p:sp>
        <p:nvSpPr>
          <p:cNvPr id="5" name="Text 3"/>
          <p:cNvSpPr/>
          <p:nvPr/>
        </p:nvSpPr>
        <p:spPr>
          <a:xfrm>
            <a:off x="548640" y="1965960"/>
            <a:ext cx="11064240" cy="594360"/>
          </a:xfrm>
          <a:prstGeom prst="rect">
            <a:avLst/>
          </a:prstGeom>
          <a:noFill/>
          <a:ln/>
        </p:spPr>
        <p:txBody>
          <a:bodyPr wrap="square" rtlCol="0" anchor="ctr"/>
          <a:lstStyle/>
          <a:p>
            <a:pPr marL="0" indent="0">
              <a:lnSpc>
                <a:spcPct val="125000"/>
              </a:lnSpc>
              <a:buNone/>
            </a:pPr>
            <a:r>
              <a:rPr lang="en-US" sz="1300" dirty="0">
                <a:solidFill>
                  <a:srgbClr val="1A1A1A"/>
                </a:solidFill>
                <a:latin typeface="Calibri" pitchFamily="34" charset="0"/>
                <a:ea typeface="Calibri" pitchFamily="34" charset="-122"/>
                <a:cs typeface="Calibri" pitchFamily="34" charset="-120"/>
              </a:rPr>
              <a:t>Require travel requests at least 3 days before departure, so travelers have time to book trains or economy fares. Estimated impact: around 50 million kg of CO2e saved over 3 years.</a:t>
            </a:r>
            <a:endParaRPr lang="en-US" sz="1300" dirty="0"/>
          </a:p>
        </p:txBody>
      </p:sp>
      <p:sp>
        <p:nvSpPr>
          <p:cNvPr id="6" name="Text 4"/>
          <p:cNvSpPr/>
          <p:nvPr/>
        </p:nvSpPr>
        <p:spPr>
          <a:xfrm>
            <a:off x="548640" y="2697480"/>
            <a:ext cx="11064240" cy="365760"/>
          </a:xfrm>
          <a:prstGeom prst="rect">
            <a:avLst/>
          </a:prstGeom>
          <a:noFill/>
          <a:ln/>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2. Add a carbon cap for Sales customer visits</a:t>
            </a:r>
            <a:endParaRPr lang="en-US" sz="1500" dirty="0"/>
          </a:p>
        </p:txBody>
      </p:sp>
      <p:sp>
        <p:nvSpPr>
          <p:cNvPr id="7" name="Text 5"/>
          <p:cNvSpPr/>
          <p:nvPr/>
        </p:nvSpPr>
        <p:spPr>
          <a:xfrm>
            <a:off x="548640" y="3063240"/>
            <a:ext cx="11064240" cy="594360"/>
          </a:xfrm>
          <a:prstGeom prst="rect">
            <a:avLst/>
          </a:prstGeom>
          <a:noFill/>
          <a:ln/>
        </p:spPr>
        <p:txBody>
          <a:bodyPr wrap="square" rtlCol="0" anchor="ctr"/>
          <a:lstStyle/>
          <a:p>
            <a:pPr marL="0" indent="0">
              <a:lnSpc>
                <a:spcPct val="125000"/>
              </a:lnSpc>
              <a:buNone/>
            </a:pPr>
            <a:r>
              <a:rPr lang="en-US" sz="1300" dirty="0">
                <a:solidFill>
                  <a:srgbClr val="1A1A1A"/>
                </a:solidFill>
                <a:latin typeface="Calibri" pitchFamily="34" charset="0"/>
                <a:ea typeface="Calibri" pitchFamily="34" charset="-122"/>
                <a:cs typeface="Calibri" pitchFamily="34" charset="-120"/>
              </a:rPr>
              <a:t>Introduce a lower emissions limit for Sales team travel, the single biggest emitting team, with mandatory pre-approval for Business Class on routes under 500km. Estimated impact: directly targets the 34% of emissions tied to this one team.</a:t>
            </a:r>
            <a:endParaRPr lang="en-US" sz="1300" dirty="0"/>
          </a:p>
        </p:txBody>
      </p:sp>
      <p:sp>
        <p:nvSpPr>
          <p:cNvPr id="8" name="Text 6"/>
          <p:cNvSpPr/>
          <p:nvPr/>
        </p:nvSpPr>
        <p:spPr>
          <a:xfrm>
            <a:off x="548640" y="3794760"/>
            <a:ext cx="11064240" cy="365760"/>
          </a:xfrm>
          <a:prstGeom prst="rect">
            <a:avLst/>
          </a:prstGeom>
          <a:noFill/>
          <a:ln/>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3. Move policy approval before booking, not after</a:t>
            </a:r>
            <a:endParaRPr lang="en-US" sz="1500" dirty="0"/>
          </a:p>
        </p:txBody>
      </p:sp>
      <p:sp>
        <p:nvSpPr>
          <p:cNvPr id="9" name="Text 7"/>
          <p:cNvSpPr/>
          <p:nvPr/>
        </p:nvSpPr>
        <p:spPr>
          <a:xfrm>
            <a:off x="548640" y="4160520"/>
            <a:ext cx="11064240" cy="594360"/>
          </a:xfrm>
          <a:prstGeom prst="rect">
            <a:avLst/>
          </a:prstGeom>
          <a:noFill/>
          <a:ln/>
        </p:spPr>
        <p:txBody>
          <a:bodyPr wrap="square" rtlCol="0" anchor="ctr"/>
          <a:lstStyle/>
          <a:p>
            <a:pPr marL="0" indent="0">
              <a:lnSpc>
                <a:spcPct val="125000"/>
              </a:lnSpc>
              <a:buNone/>
            </a:pPr>
            <a:r>
              <a:rPr lang="en-US" sz="1300" dirty="0">
                <a:solidFill>
                  <a:srgbClr val="1A1A1A"/>
                </a:solidFill>
                <a:latin typeface="Calibri" pitchFamily="34" charset="0"/>
                <a:ea typeface="Calibri" pitchFamily="34" charset="-122"/>
                <a:cs typeface="Calibri" pitchFamily="34" charset="-120"/>
              </a:rPr>
              <a:t>Flag out-of-policy trips automatically at the approval stage instead of after the ticket is already booked. Estimated impact: addresses the 44% emissions gap seen in non-compliant trips.</a:t>
            </a:r>
            <a:endParaRPr lang="en-US" sz="1300" dirty="0"/>
          </a:p>
        </p:txBody>
      </p:sp>
      <p:sp>
        <p:nvSpPr>
          <p:cNvPr id="10" name="Text 8"/>
          <p:cNvSpPr/>
          <p:nvPr/>
        </p:nvSpPr>
        <p:spPr>
          <a:xfrm>
            <a:off x="548640" y="5074920"/>
            <a:ext cx="11064240" cy="1005840"/>
          </a:xfrm>
          <a:prstGeom prst="rect">
            <a:avLst/>
          </a:prstGeom>
          <a:noFill/>
          <a:ln/>
        </p:spPr>
        <p:txBody>
          <a:bodyPr wrap="square" rtlCol="0" anchor="ctr"/>
          <a:lstStyle/>
          <a:p>
            <a:pPr marL="0" indent="0">
              <a:lnSpc>
                <a:spcPct val="130000"/>
              </a:lnSpc>
              <a:buNone/>
            </a:pPr>
            <a:r>
              <a:rPr lang="en-US" sz="1250" dirty="0">
                <a:solidFill>
                  <a:srgbClr val="555555"/>
                </a:solidFill>
                <a:latin typeface="Calibri" pitchFamily="34" charset="0"/>
                <a:ea typeface="Calibri" pitchFamily="34" charset="-122"/>
                <a:cs typeface="Calibri" pitchFamily="34" charset="-120"/>
              </a:rPr>
              <a:t>Looking ahead: as Celonis keeps growing, emissions will rise unless efficiency improves faster than headcount. These three changes are low cost to implement and pay back in both money and carbon within the first year, making them a reasonable first phase of a longer 2030 Net Zero roadmap.</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Dashboard: Emissions Overview</a:t>
            </a:r>
            <a:endParaRPr lang="en-US" sz="2800" dirty="0"/>
          </a:p>
        </p:txBody>
      </p:sp>
      <p:sp>
        <p:nvSpPr>
          <p:cNvPr id="3" name="Text 1"/>
          <p:cNvSpPr/>
          <p:nvPr/>
        </p:nvSpPr>
        <p:spPr>
          <a:xfrm>
            <a:off x="548640" y="960120"/>
            <a:ext cx="11064240" cy="36576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Process Explorer, Variant Explorer, and headline KPIs, built in Celonis.</a:t>
            </a:r>
            <a:endParaRPr lang="en-US" sz="1250" dirty="0"/>
          </a:p>
        </p:txBody>
      </p:sp>
      <p:pic>
        <p:nvPicPr>
          <p:cNvPr id="4" name="Image 0" descr="overview.png"/>
          <p:cNvPicPr>
            <a:picLocks noChangeAspect="1"/>
          </p:cNvPicPr>
          <p:nvPr/>
        </p:nvPicPr>
        <p:blipFill>
          <a:blip r:embed="rId3"/>
          <a:stretch>
            <a:fillRect/>
          </a:stretch>
        </p:blipFill>
        <p:spPr>
          <a:xfrm>
            <a:off x="548640" y="1446667"/>
            <a:ext cx="11064240" cy="51533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Dashboard: Benchmarking</a:t>
            </a:r>
            <a:endParaRPr lang="en-US" sz="2800" dirty="0"/>
          </a:p>
        </p:txBody>
      </p:sp>
      <p:sp>
        <p:nvSpPr>
          <p:cNvPr id="3" name="Text 1"/>
          <p:cNvSpPr/>
          <p:nvPr/>
        </p:nvSpPr>
        <p:spPr>
          <a:xfrm>
            <a:off x="548640" y="960120"/>
            <a:ext cx="11064240" cy="36576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Average emissions per trip, regional comparison, and breakdown by business unit and purpose.</a:t>
            </a:r>
            <a:endParaRPr lang="en-US" sz="1250" dirty="0"/>
          </a:p>
        </p:txBody>
      </p:sp>
      <p:pic>
        <p:nvPicPr>
          <p:cNvPr id="4" name="Image 0" descr="benchmarking.png"/>
          <p:cNvPicPr>
            <a:picLocks noChangeAspect="1"/>
          </p:cNvPicPr>
          <p:nvPr/>
        </p:nvPicPr>
        <p:blipFill>
          <a:blip r:embed="rId3"/>
          <a:stretch>
            <a:fillRect/>
          </a:stretch>
        </p:blipFill>
        <p:spPr>
          <a:xfrm>
            <a:off x="806185" y="1417320"/>
            <a:ext cx="10549150" cy="5212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Dashboard: Emissions Drilldown</a:t>
            </a:r>
            <a:endParaRPr lang="en-US" sz="2800" dirty="0"/>
          </a:p>
        </p:txBody>
      </p:sp>
      <p:sp>
        <p:nvSpPr>
          <p:cNvPr id="3" name="Text 1"/>
          <p:cNvSpPr/>
          <p:nvPr/>
        </p:nvSpPr>
        <p:spPr>
          <a:xfrm>
            <a:off x="548640" y="960120"/>
            <a:ext cx="11064240" cy="365760"/>
          </a:xfrm>
          <a:prstGeom prst="rect">
            <a:avLst/>
          </a:prstGeom>
          <a:noFill/>
          <a:ln/>
        </p:spPr>
        <p:txBody>
          <a:bodyPr wrap="square" rtlCol="0" anchor="ctr"/>
          <a:lstStyle/>
          <a:p>
            <a:pPr marL="0" indent="0">
              <a:buNone/>
            </a:pPr>
            <a:r>
              <a:rPr lang="en-US" sz="1250" dirty="0">
                <a:solidFill>
                  <a:srgbClr val="555555"/>
                </a:solidFill>
                <a:latin typeface="Calibri" pitchFamily="34" charset="0"/>
                <a:ea typeface="Calibri" pitchFamily="34" charset="-122"/>
                <a:cs typeface="Calibri" pitchFamily="34" charset="-120"/>
              </a:rPr>
              <a:t>Emissions by transport type, policy compliance split, and high carbon trip share.</a:t>
            </a:r>
            <a:endParaRPr lang="en-US" sz="1250" dirty="0"/>
          </a:p>
        </p:txBody>
      </p:sp>
      <p:pic>
        <p:nvPicPr>
          <p:cNvPr id="4" name="Image 0" descr="drilldown.png"/>
          <p:cNvPicPr>
            <a:picLocks noChangeAspect="1"/>
          </p:cNvPicPr>
          <p:nvPr/>
        </p:nvPicPr>
        <p:blipFill>
          <a:blip r:embed="rId3"/>
          <a:stretch>
            <a:fillRect/>
          </a:stretch>
        </p:blipFill>
        <p:spPr>
          <a:xfrm>
            <a:off x="1064865" y="1417320"/>
            <a:ext cx="1003179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1053</Words>
  <Application>Microsoft Office PowerPoint</Application>
  <PresentationFormat>Widescreen</PresentationFormat>
  <Paragraphs>80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ruchismitapradhan729@outlook.com</cp:lastModifiedBy>
  <cp:revision>2</cp:revision>
  <dcterms:created xsi:type="dcterms:W3CDTF">2026-07-19T03:31:18Z</dcterms:created>
  <dcterms:modified xsi:type="dcterms:W3CDTF">2026-07-19T04:06:02Z</dcterms:modified>
</cp:coreProperties>
</file>